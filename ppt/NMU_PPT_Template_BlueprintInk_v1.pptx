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harts/chart3.xml" ContentType="application/vnd.openxmlformats-officedocument.drawingml.chart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样例 A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71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样例 B</c:v>
                </c:pt>
              </c:strCache>
            </c:strRef>
          </c:tx>
          <c:spPr>
            <a:solidFill>
              <a:srgbClr val="A8AD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35</c:v>
                </c:pt>
                <c:pt idx="2">
                  <c:v>48</c:v>
                </c:pt>
                <c:pt idx="3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ADB3"/>
                </a:solidFill>
                <a:latin typeface="Source Sans Pr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3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ADB3"/>
                </a:solidFill>
                <a:latin typeface="Source Sans Pr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样例趋势</c:v>
                </c:pt>
              </c:strCache>
            </c:strRef>
          </c:tx>
          <c:spPr>
            <a:solidFill>
              <a:srgbClr val="3B82F6"/>
            </a:solidFill>
            <a:ln w="127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38</c:v>
                </c:pt>
                <c:pt idx="2">
                  <c:v>45</c:v>
                </c:pt>
                <c:pt idx="3">
                  <c:v>62</c:v>
                </c:pt>
                <c:pt idx="4">
                  <c:v>78</c:v>
                </c:pt>
                <c:pt idx="5">
                  <c:v>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ADB3"/>
                </a:solidFill>
                <a:latin typeface="Source Sans Pr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3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ADB3"/>
                </a:solidFill>
                <a:latin typeface="Source Sans Pr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样例构成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bubble3D val="0"/>
            <c:spPr>
              <a:solidFill>
                <a:srgbClr val="A8ADB3"/>
              </a:solidFill>
              <a:effectLst/>
            </c:spPr>
          </c:dPt>
          <c:dPt>
            <c:idx val="3"/>
            <c:bubble3D val="0"/>
            <c:spPr>
              <a:solidFill>
                <a:srgbClr val="2A334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样例点</c:v>
                </c:pt>
              </c:strCache>
            </c:strRef>
          </c:tx>
          <c:spPr>
            <a:solidFill>
              <a:srgbClr val="3B82F6"/>
            </a:solidFill>
            <a:ln w="25400" cap="flat">
              <a:noFill/>
            </a:ln>
            <a:effectLst/>
          </c:spPr>
          <c:marker>
            <c:symbol val="circle"/>
            <c:size val="10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12</c:v>
                </c:pt>
                <c:pt idx="1">
                  <c:v>28</c:v>
                </c:pt>
                <c:pt idx="2">
                  <c:v>35</c:v>
                </c:pt>
                <c:pt idx="3">
                  <c:v>48</c:v>
                </c:pt>
                <c:pt idx="4">
                  <c:v>55</c:v>
                </c:pt>
                <c:pt idx="5">
                  <c:v>62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22</c:v>
                </c:pt>
                <c:pt idx="2">
                  <c:v>40</c:v>
                </c:pt>
                <c:pt idx="3">
                  <c:v>44</c:v>
                </c:pt>
                <c:pt idx="4">
                  <c:v>58</c:v>
                </c:pt>
                <c:pt idx="5">
                  <c:v>70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ADB3"/>
                </a:solidFill>
                <a:latin typeface="Source Sans Pr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34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ADB3"/>
                </a:solidFill>
                <a:latin typeface="Source Sans Pro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577840"/>
            <a:ext cx="2926080" cy="292608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846320"/>
            <a:ext cx="4389120" cy="438912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4114800"/>
            <a:ext cx="5852160" cy="585216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3383280"/>
            <a:ext cx="7315200" cy="731520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651760"/>
            <a:ext cx="8778240" cy="877824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1920240"/>
            <a:ext cx="10241280" cy="1024128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280160" y="-1280160"/>
            <a:ext cx="2194560" cy="2194560"/>
          </a:xfrm>
          <a:prstGeom prst="ellipse">
            <a:avLst/>
          </a:prstGeom>
          <a:ln w="6985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920240" y="-1920240"/>
            <a:ext cx="3474720" cy="3474720"/>
          </a:xfrm>
          <a:prstGeom prst="ellipse">
            <a:avLst/>
          </a:prstGeom>
          <a:ln w="6985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560320" y="-2560320"/>
            <a:ext cx="4754880" cy="4754880"/>
          </a:xfrm>
          <a:prstGeom prst="ellipse">
            <a:avLst/>
          </a:prstGeom>
          <a:ln w="6985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3200400" y="-3200400"/>
            <a:ext cx="6035040" cy="6035040"/>
          </a:xfrm>
          <a:prstGeom prst="ellipse">
            <a:avLst/>
          </a:prstGeom>
          <a:ln w="6985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310896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21488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spc="160" kern="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年度品牌 · BRAND LAUNCH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51460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6974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54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新材联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Materials Union</a:t>
            </a:r>
            <a:endParaRPr lang="en-US" sz="5400" dirty="0"/>
          </a:p>
        </p:txBody>
      </p:sp>
      <p:sp>
        <p:nvSpPr>
          <p:cNvPr id="16" name="Text 13"/>
          <p:cNvSpPr/>
          <p:nvPr/>
        </p:nvSpPr>
        <p:spPr>
          <a:xfrm>
            <a:off x="640080" y="4892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AI赋能建筑 — 工业极简品牌模板示意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AI-powered architecture · industrial minimal template sample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62636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3B82F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BLUEPRINT INK  ·  SCHEME A  ·  SAMPLE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577840"/>
            <a:ext cx="2926080" cy="2926080"/>
          </a:xfrm>
          <a:prstGeom prst="ellipse">
            <a:avLst/>
          </a:prstGeom>
          <a:ln w="7620">
            <a:solidFill>
              <a:srgbClr val="3B82F6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846320"/>
            <a:ext cx="4389120" cy="4389120"/>
          </a:xfrm>
          <a:prstGeom prst="ellipse">
            <a:avLst/>
          </a:prstGeom>
          <a:ln w="7620">
            <a:solidFill>
              <a:srgbClr val="3B82F6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4114800"/>
            <a:ext cx="5852160" cy="5852160"/>
          </a:xfrm>
          <a:prstGeom prst="ellipse">
            <a:avLst/>
          </a:prstGeom>
          <a:ln w="7620">
            <a:solidFill>
              <a:srgbClr val="3B82F6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3383280"/>
            <a:ext cx="7315200" cy="7315200"/>
          </a:xfrm>
          <a:prstGeom prst="ellipse">
            <a:avLst/>
          </a:prstGeom>
          <a:ln w="7620">
            <a:solidFill>
              <a:srgbClr val="3B82F6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651760"/>
            <a:ext cx="8778240" cy="8778240"/>
          </a:xfrm>
          <a:prstGeom prst="ellipse">
            <a:avLst/>
          </a:prstGeom>
          <a:ln w="7620">
            <a:solidFill>
              <a:srgbClr val="3B82F6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1920240"/>
            <a:ext cx="10241280" cy="10241280"/>
          </a:xfrm>
          <a:prstGeom prst="ellipse">
            <a:avLst/>
          </a:prstGeom>
          <a:ln w="7620">
            <a:solidFill>
              <a:srgbClr val="3B82F6">
                <a:alpha val="90000"/>
              </a:srgbClr>
            </a:solidFill>
            <a:prstDash val="solid"/>
          </a:ln>
        </p:spPr>
      </p:sp>
      <p:pic>
        <p:nvPicPr>
          <p:cNvPr id="8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194560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194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383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44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AI赋能建筑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40080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章节封面示意 — 编号、标题与导语 / Section opener sample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spc="160" kern="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声明 · STATEMENT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274320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9718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4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材料立界。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Materials that hold the line.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纯文字封面示意 — 无标识、无弧线 / Text-only cover sample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2194560" cy="2194560"/>
          </a:xfrm>
          <a:prstGeom prst="ellipse">
            <a:avLst/>
          </a:prstGeom>
          <a:ln w="6985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-1920240"/>
            <a:ext cx="3474720" cy="3474720"/>
          </a:xfrm>
          <a:prstGeom prst="ellipse">
            <a:avLst/>
          </a:prstGeom>
          <a:ln w="6985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560320" y="-2560320"/>
            <a:ext cx="4754880" cy="4754880"/>
          </a:xfrm>
          <a:prstGeom prst="ellipse">
            <a:avLst/>
          </a:prstGeom>
          <a:ln w="6985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-3200400"/>
            <a:ext cx="6035040" cy="6035040"/>
          </a:xfrm>
          <a:prstGeom prst="ellipse">
            <a:avLst/>
          </a:prstGeom>
          <a:ln w="6985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2377440" cy="5577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6032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spc="160" kern="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深色变体 · DARK VARIANT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154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44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新材联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Blueprint Ink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4008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深色封面示意 — 左侧色条 + 左上弧线 / Dark cover · left bar + TL arcs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172200"/>
            <a:ext cx="2377440" cy="237744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5577840"/>
            <a:ext cx="3566160" cy="356616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4983480"/>
            <a:ext cx="4754880" cy="475488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4434840"/>
            <a:ext cx="5852160" cy="585216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6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3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议程 · Agenda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5448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品牌体系 · Brand system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54480" y="2606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标识、色板、字体与弧线规则 · Lockups, palette, type, motif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554480" y="3017520"/>
            <a:ext cx="658368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544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产品叙事 · Product story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54480" y="3520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材料、论证与场景 · Materials, proof points, use cases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554480" y="3931920"/>
            <a:ext cx="658368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55448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证明与数据 · Proof &amp; data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54480" y="4434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指标、图表与对比 · Metrics, charts, comparisons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554480" y="4846320"/>
            <a:ext cx="658368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029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554480" y="5029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下一步 · Next steps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554480" y="5349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联系、附录与跟进 · Contact, appendix, follow-ups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577840"/>
            <a:ext cx="2926080" cy="292608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846320"/>
            <a:ext cx="4389120" cy="438912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4114800"/>
            <a:ext cx="5852160" cy="585216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3383280"/>
            <a:ext cx="7315200" cy="731520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651760"/>
            <a:ext cx="8778240" cy="877824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1920240"/>
            <a:ext cx="10241280" cy="1024128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6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4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品牌体系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章节分隔示意 — 编号章节开场 / Section break sample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2194560" cy="2194560"/>
          </a:xfrm>
          <a:prstGeom prst="ellipse">
            <a:avLst/>
          </a:prstGeom>
          <a:ln w="6985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-1920240"/>
            <a:ext cx="3474720" cy="3474720"/>
          </a:xfrm>
          <a:prstGeom prst="ellipse">
            <a:avLst/>
          </a:prstGeom>
          <a:ln w="6985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560320" y="-2560320"/>
            <a:ext cx="4754880" cy="4754880"/>
          </a:xfrm>
          <a:prstGeom prst="ellipse">
            <a:avLst/>
          </a:prstGeom>
          <a:ln w="6985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-3200400"/>
            <a:ext cx="6035040" cy="6035040"/>
          </a:xfrm>
          <a:prstGeom prst="ellipse">
            <a:avLst/>
          </a:prstGeom>
          <a:ln w="6985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10698480" y="356616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4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产品叙事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章节分隔示意 — 右侧重编号 / Section break · right-weighted number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377440" cy="557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200400" y="2880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4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证明与数据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2004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章节分隔示意 — 顶栏与同行编号 / Section break · top bar, inline number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172200"/>
            <a:ext cx="2377440" cy="2377440"/>
          </a:xfrm>
          <a:prstGeom prst="ellipse">
            <a:avLst/>
          </a:prstGeom>
          <a:ln w="762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5577840"/>
            <a:ext cx="3566160" cy="3566160"/>
          </a:xfrm>
          <a:prstGeom prst="ellipse">
            <a:avLst/>
          </a:prstGeom>
          <a:ln w="762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4983480"/>
            <a:ext cx="4754880" cy="4754880"/>
          </a:xfrm>
          <a:prstGeom prst="ellipse">
            <a:avLst/>
          </a:prstGeom>
          <a:ln w="762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4434840"/>
            <a:ext cx="5852160" cy="5852160"/>
          </a:xfrm>
          <a:prstGeom prst="ellipse">
            <a:avLst/>
          </a:prstGeom>
          <a:ln w="762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8686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4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精度不是装饰——</a:t>
            </a:r>
            <a:endParaRPr lang="en-US" sz="4000" dirty="0"/>
          </a:p>
          <a:p>
            <a:pPr indent="0" marL="0">
              <a:buNone/>
            </a:pPr>
            <a:r>
              <a:rPr lang="zh-CN" sz="4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它就是产品本身。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is the product.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417320" y="466344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— 新材联 · 品牌原则（模板示意） / NMU brand principle (sample)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32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重点拆分 · Emphasis split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5120640" cy="347472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0175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3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守住这一点。</a:t>
            </a:r>
            <a:endParaRPr lang="en-US" sz="3600" dirty="0"/>
          </a:p>
          <a:p>
            <a:pPr indent="0" marL="0">
              <a:buNone/>
            </a:pPr>
            <a:r>
              <a:rPr lang="zh-CN" sz="3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Hold this idea.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05840" y="4754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左侧卡片承载金句 · Punch 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2560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右侧短主张支撑重点版式 · Short claims support the emphasis layout (sample).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体系清晰 · Clear system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0" y="4434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证据可见 · Proof visible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0" y="4937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交付可复用 · Reusable delivery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417320" y="233172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4000" b="1" dirty="0">
                <a:solidFill>
                  <a:srgbClr val="0B0B0C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一处浅色反转——</a:t>
            </a:r>
            <a:endParaRPr lang="en-US" sz="4000" dirty="0"/>
          </a:p>
          <a:p>
            <a:pPr indent="0" marL="0">
              <a:buNone/>
            </a:pPr>
            <a:r>
              <a:rPr lang="zh-CN" sz="4000" b="1" dirty="0">
                <a:solidFill>
                  <a:srgbClr val="0B0B0C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重置视觉节奏。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417320" y="457200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4B556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— 浅色引言（唯一浅底）· Light quote · one invert only (sample)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2194560" cy="2194560"/>
          </a:xfrm>
          <a:prstGeom prst="ellipse">
            <a:avLst/>
          </a:prstGeom>
          <a:ln w="6985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-1920240"/>
            <a:ext cx="3474720" cy="3474720"/>
          </a:xfrm>
          <a:prstGeom prst="ellipse">
            <a:avLst/>
          </a:prstGeom>
          <a:ln w="6985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560320" y="-2560320"/>
            <a:ext cx="4754880" cy="4754880"/>
          </a:xfrm>
          <a:prstGeom prst="ellipse">
            <a:avLst/>
          </a:prstGeom>
          <a:ln w="6985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-3200400"/>
            <a:ext cx="6035040" cy="6035040"/>
          </a:xfrm>
          <a:prstGeom prst="ellipse">
            <a:avLst/>
          </a:prstGeom>
          <a:ln w="6985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spc="160" kern="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重点 · EMPHASIS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大字强调示意 — 单一指标即信息（模板样例 98%） / Big-type emphasis · sample metric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172200"/>
            <a:ext cx="2377440" cy="237744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5577840"/>
            <a:ext cx="3566160" cy="356616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4983480"/>
            <a:ext cx="4754880" cy="475488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4434840"/>
            <a:ext cx="5852160" cy="585216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6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17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32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关键数字 · Sample metrics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3291840" cy="292608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017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870+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91440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客户 · Clients (sample)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874520" y="475488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4297680" y="2377440"/>
            <a:ext cx="3291840" cy="292608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3017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457200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留存 · Retention (sample)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532120" y="475488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7955280" y="2377440"/>
            <a:ext cx="3291840" cy="292608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3017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3.2×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822960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吞吐 · Throughput (sample)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189720" y="475488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32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对比 · Compare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120640" cy="365760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0" y="2286000"/>
            <a:ext cx="5120640" cy="365760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spc="200" kern="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之前 · BEFORE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spc="200" kern="0" dirty="0">
                <a:solidFill>
                  <a:srgbClr val="3B82F6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之后 · AFTER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200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42%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6766560" y="3200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1005840" y="4389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基线指标（模板样例）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Baseline sample metric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4389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提升后指标（模板样例）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Improved sample metric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172200"/>
            <a:ext cx="2377440" cy="237744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5577840"/>
            <a:ext cx="3566160" cy="356616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4983480"/>
            <a:ext cx="4754880" cy="475488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4434840"/>
            <a:ext cx="5852160" cy="585216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pic>
        <p:nvPicPr>
          <p:cNvPr id="6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17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32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进度 · Progress (sample)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精度 · Precision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32688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2697480"/>
            <a:ext cx="8229600" cy="10972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697480"/>
            <a:ext cx="757123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吞吐 · Throughput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32688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" y="3611880"/>
            <a:ext cx="8229600" cy="10972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3611880"/>
            <a:ext cx="6089904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采纳 · Adoption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2688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" y="4526280"/>
            <a:ext cx="8229600" cy="10972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21" name="Shape 18"/>
          <p:cNvSpPr/>
          <p:nvPr/>
        </p:nvSpPr>
        <p:spPr>
          <a:xfrm>
            <a:off x="640080" y="4526280"/>
            <a:ext cx="5020056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029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满意度 · Satisfaction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326880" y="5029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0080" y="5440680"/>
            <a:ext cx="8229600" cy="10972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25" name="Shape 22"/>
          <p:cNvSpPr/>
          <p:nvPr/>
        </p:nvSpPr>
        <p:spPr>
          <a:xfrm>
            <a:off x="640080" y="5440680"/>
            <a:ext cx="7242048" cy="109728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577840"/>
            <a:ext cx="2926080" cy="2926080"/>
          </a:xfrm>
          <a:prstGeom prst="ellipse">
            <a:avLst/>
          </a:prstGeom>
          <a:ln w="7620">
            <a:solidFill>
              <a:srgbClr val="3B82F6">
                <a:alpha val="8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846320"/>
            <a:ext cx="4389120" cy="4389120"/>
          </a:xfrm>
          <a:prstGeom prst="ellipse">
            <a:avLst/>
          </a:prstGeom>
          <a:ln w="7620">
            <a:solidFill>
              <a:srgbClr val="3B82F6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4114800"/>
            <a:ext cx="5852160" cy="5852160"/>
          </a:xfrm>
          <a:prstGeom prst="ellipse">
            <a:avLst/>
          </a:prstGeom>
          <a:ln w="7620">
            <a:solidFill>
              <a:srgbClr val="3B82F6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3383280"/>
            <a:ext cx="7315200" cy="7315200"/>
          </a:xfrm>
          <a:prstGeom prst="ellipse">
            <a:avLst/>
          </a:prstGeom>
          <a:ln w="7620">
            <a:solidFill>
              <a:srgbClr val="3B82F6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651760"/>
            <a:ext cx="8778240" cy="8778240"/>
          </a:xfrm>
          <a:prstGeom prst="ellipse">
            <a:avLst/>
          </a:prstGeom>
          <a:ln w="7620">
            <a:solidFill>
              <a:srgbClr val="3B82F6">
                <a:alpha val="8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1920240"/>
            <a:ext cx="10241280" cy="10241280"/>
          </a:xfrm>
          <a:prstGeom prst="ellipse">
            <a:avLst/>
          </a:prstGeom>
          <a:ln w="7620">
            <a:solidFill>
              <a:srgbClr val="3B82F6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spc="160" kern="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信号指标 · SIGNAL METRIC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3.2×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单一主数字示意（模板样例）· Single hero metric (template sample)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柱状图 · Bar chart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分组柱 — 模板样例序列 · Clustered columns — sample series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377440"/>
          <a:ext cx="10515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折线图 · Line chart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趋势示意 — 模板样例数值 · Trend sample — template values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377440"/>
          <a:ext cx="10515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172200"/>
            <a:ext cx="2377440" cy="237744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5577840"/>
            <a:ext cx="3566160" cy="356616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4983480"/>
            <a:ext cx="4754880" cy="475488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4434840"/>
            <a:ext cx="5852160" cy="585216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pic>
        <p:nvPicPr>
          <p:cNvPr id="6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排名 · Ranking (sample)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4592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甲材料 · Alpha Material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645920" y="2697480"/>
            <a:ext cx="658368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926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4592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乙复合 · Beta Composite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68680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645920" y="3520440"/>
            <a:ext cx="658368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4592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丙合金 · Gamma Alloy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68680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645920" y="4343400"/>
            <a:ext cx="658368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572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645920" y="4572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丁纤维 · Delta Fiber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68680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1645920" y="5166360"/>
            <a:ext cx="658368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5394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1645920" y="5394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戊涂层 · Epsilon Coat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686800" y="5394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环图 · Donut chart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210312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228600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42%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6858000" y="2651760"/>
            <a:ext cx="22860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0" y="2560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dirty="0">
                <a:solidFill>
                  <a:srgbClr val="FFFFFF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A — 主项 · Primary (sample)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858000" y="3291840"/>
            <a:ext cx="228600" cy="2286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0" y="3200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dirty="0">
                <a:solidFill>
                  <a:srgbClr val="FFFFFF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B — 次项 · Secondary (sample)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0" y="3931920"/>
            <a:ext cx="228600" cy="228600"/>
          </a:xfrm>
          <a:prstGeom prst="rect">
            <a:avLst/>
          </a:prstGeom>
          <a:solidFill>
            <a:srgbClr val="A8ADB3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0" y="3840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dirty="0">
                <a:solidFill>
                  <a:srgbClr val="FFFFFF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C — 三项 · Tertiary (sample)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858000" y="4572000"/>
            <a:ext cx="228600" cy="228600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0" y="4480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dirty="0">
                <a:solidFill>
                  <a:srgbClr val="FFFFFF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D — 其他 · Other (sample)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漏斗 · Funnel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形状漏斗 — 转化阶段模板样例 · Shape funnel — conversion stages (sample)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295248" y="2377440"/>
            <a:ext cx="960120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1295248" y="2468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认知 · Awareness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95248" y="28163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B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100%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09648" y="3337560"/>
            <a:ext cx="7772400" cy="77724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1" name="Text 8"/>
          <p:cNvSpPr/>
          <p:nvPr/>
        </p:nvSpPr>
        <p:spPr>
          <a:xfrm>
            <a:off x="2209648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兴趣 · Interest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09648" y="3776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B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64%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124048" y="4297680"/>
            <a:ext cx="5943600" cy="77724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4" name="Text 11"/>
          <p:cNvSpPr/>
          <p:nvPr/>
        </p:nvSpPr>
        <p:spPr>
          <a:xfrm>
            <a:off x="3124048" y="4389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意向 · Intent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124048" y="47365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B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38%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038448" y="5257800"/>
            <a:ext cx="4114800" cy="777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038448" y="5349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转化 · Convert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38448" y="5696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B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18%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散点图 · Scatter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XY 散点 — 模板样例簇 · XY scatter — sample clusters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377440"/>
          <a:ext cx="10515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表格 · Table (sample)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515600" cy="36576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b="1" dirty="0">
                          <a:solidFill>
                            <a:srgbClr val="FFFFFF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材料 · Material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b="1" dirty="0">
                          <a:solidFill>
                            <a:srgbClr val="FFFFFF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等级 · Grade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b="1" dirty="0">
                          <a:solidFill>
                            <a:srgbClr val="FFFFFF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交期 · Lead time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b="1" dirty="0">
                          <a:solidFill>
                            <a:srgbClr val="FFFFFF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状态 · Status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甲 · Alpha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A1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2 wk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就绪 · Ready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乙 · Beta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B2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4 wk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试点 · Pilot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丙 · Gamma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A2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3 wk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就绪 · Ready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丁 · Delta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C1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6 wk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400" dirty="0">
                          <a:solidFill>
                            <a:srgbClr val="A8ADB3"/>
                          </a:solidFill>
                          <a:latin typeface="Source Sans Pro" pitchFamily="34" charset="0"/>
                          <a:ea typeface="Noto Sans CJK SC" pitchFamily="34" charset="-122"/>
                          <a:cs typeface="Source Sans Pro" pitchFamily="34" charset="-120"/>
                        </a:rPr>
                        <a:t>研发 · R&amp;D</a:t>
                      </a:r>
                      <a:endParaRPr lang="en-US" sz="14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172200"/>
            <a:ext cx="2377440" cy="237744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5577840"/>
            <a:ext cx="3566160" cy="356616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4983480"/>
            <a:ext cx="4754880" cy="475488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4434840"/>
            <a:ext cx="5852160" cy="5852160"/>
          </a:xfrm>
          <a:prstGeom prst="ellipse">
            <a:avLst/>
          </a:prstGeom>
          <a:ln w="7620">
            <a:solidFill>
              <a:srgbClr val="3B82F6">
                <a:alpha val="78000"/>
              </a:srgbClr>
            </a:solidFill>
            <a:prstDash val="solid"/>
          </a:ln>
        </p:spPr>
      </p:sp>
      <p:pic>
        <p:nvPicPr>
          <p:cNvPr id="6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流程 · Process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2651760" cy="329184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6868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发现 · Discover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4023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明确简报与约束 · Frame brief &amp; constraints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10896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520440" y="2377440"/>
            <a:ext cx="2651760" cy="329184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6" name="Text 13"/>
          <p:cNvSpPr/>
          <p:nvPr/>
        </p:nvSpPr>
        <p:spPr>
          <a:xfrm>
            <a:off x="37490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74904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规格 · Specify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749040" y="4023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锁定材料与公差 · Lock materials &amp; tolerances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400800" y="2377440"/>
            <a:ext cx="2651760" cy="329184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62940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原型 · Prototype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629400" y="4023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搭建、测试、迭代一次 · Build, test, iterate once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86968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281160" y="2377440"/>
            <a:ext cx="2651760" cy="329184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26" name="Text 23"/>
          <p:cNvSpPr/>
          <p:nvPr/>
        </p:nvSpPr>
        <p:spPr>
          <a:xfrm>
            <a:off x="950976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950976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交付 · Ship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509760" y="4023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带证明包发布 · Release with proof pack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关系 · Relationship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937760" y="3200400"/>
            <a:ext cx="228600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493776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核心 · Core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97280" y="2194560"/>
            <a:ext cx="2194560" cy="82296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设计 · Design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7280" y="4754880"/>
            <a:ext cx="2194560" cy="82296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供应 · Supply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778240" y="2194560"/>
            <a:ext cx="2194560" cy="82296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3" name="Text 10"/>
          <p:cNvSpPr/>
          <p:nvPr/>
        </p:nvSpPr>
        <p:spPr>
          <a:xfrm>
            <a:off x="877824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证明 · Proof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778240" y="4754880"/>
            <a:ext cx="2194560" cy="82296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交付 · Ship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中心辐射关系图 — 模板节点 · Hub-and-spoke map — sample nodes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172200"/>
            <a:ext cx="2377440" cy="237744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5577840"/>
            <a:ext cx="3566160" cy="356616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4983480"/>
            <a:ext cx="4754880" cy="475488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4434840"/>
            <a:ext cx="5852160" cy="585216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6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纵向流程 · Vertical process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8288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接入 · Intake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288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采集需求与约束 · Capture requirements &amp; constraints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828800" y="3200400"/>
            <a:ext cx="658368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8288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对齐 · Align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8288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约定成功指标（模板）· Agree success metrics (sample)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828800" y="4480560"/>
            <a:ext cx="658368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754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8288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交付 · Deliver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828800" y="5166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发布成果与证据包 · Ship artifact &amp; evidence pack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577840"/>
            <a:ext cx="2926080" cy="292608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846320"/>
            <a:ext cx="4389120" cy="438912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4114800"/>
            <a:ext cx="5852160" cy="585216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3383280"/>
            <a:ext cx="7315200" cy="731520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651760"/>
            <a:ext cx="8778240" cy="877824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1920240"/>
            <a:ext cx="10241280" cy="10241280"/>
          </a:xfrm>
          <a:prstGeom prst="ellipse">
            <a:avLst/>
          </a:prstGeom>
          <a:ln w="7620">
            <a:solidFill>
              <a:srgbClr val="3B82F6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280160" y="-1280160"/>
            <a:ext cx="2194560" cy="2194560"/>
          </a:xfrm>
          <a:prstGeom prst="ellipse">
            <a:avLst/>
          </a:prstGeom>
          <a:ln w="6985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920240" y="-1920240"/>
            <a:ext cx="3474720" cy="3474720"/>
          </a:xfrm>
          <a:prstGeom prst="ellipse">
            <a:avLst/>
          </a:prstGeom>
          <a:ln w="6985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560320" y="-2560320"/>
            <a:ext cx="4754880" cy="4754880"/>
          </a:xfrm>
          <a:prstGeom prst="ellipse">
            <a:avLst/>
          </a:prstGeom>
          <a:ln w="6985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3200400" y="-3200400"/>
            <a:ext cx="6035040" cy="6035040"/>
          </a:xfrm>
          <a:prstGeom prst="ellipse">
            <a:avLst/>
          </a:prstGeom>
          <a:ln w="6985">
            <a:solidFill>
              <a:srgbClr val="3B82F6">
                <a:alpha val="60000"/>
              </a:srgbClr>
            </a:solidFill>
            <a:prstDash val="solid"/>
          </a:ln>
        </p:spPr>
      </p:sp>
      <p:pic>
        <p:nvPicPr>
          <p:cNvPr id="12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2377440" cy="5577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2560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spc="160" kern="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结束 · END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92608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06324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44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这就是体系。</a:t>
            </a:r>
            <a:endParaRPr lang="en-US" sz="4400" dirty="0"/>
          </a:p>
          <a:p>
            <a:pPr indent="0" marL="0">
              <a:buNone/>
            </a:pPr>
            <a:r>
              <a:rPr lang="zh-CN" sz="44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That's the system.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64008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收束页示意 — 短句，随后致谢或联系 / Closing slide sample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577840"/>
            <a:ext cx="2926080" cy="292608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846320"/>
            <a:ext cx="4389120" cy="438912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4114800"/>
            <a:ext cx="5852160" cy="585216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3383280"/>
            <a:ext cx="7315200" cy="731520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651760"/>
            <a:ext cx="8778240" cy="877824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1920240"/>
            <a:ext cx="10241280" cy="10241280"/>
          </a:xfrm>
          <a:prstGeom prst="ellipse">
            <a:avLst/>
          </a:prstGeom>
          <a:ln w="762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51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72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谢谢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Thank you  ·  新材联 · NEW MATERIALS UNION  ·  Blueprint Ink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172200"/>
            <a:ext cx="2377440" cy="237744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5577840"/>
            <a:ext cx="3566160" cy="356616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4983480"/>
            <a:ext cx="4754880" cy="475488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4434840"/>
            <a:ext cx="5852160" cy="5852160"/>
          </a:xfrm>
          <a:prstGeom prst="ellipse">
            <a:avLst/>
          </a:prstGeom>
          <a:ln w="7620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6" name="Image 0" descr="/workspace/slides/nmu-ppt-XfU96R/family/assets/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2377440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0" y="411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6400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17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32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联系 · Contact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spc="200" kern="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邮箱 · Email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hello@nmu.example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40080" y="3291840"/>
            <a:ext cx="777240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spc="200" kern="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网站 · Web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www.nmu.example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640080" y="4389120"/>
            <a:ext cx="7772400" cy="18288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572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spc="200" kern="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办公 · Office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4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新材联（武汉）科技有限公司 · Wuhan (address template)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2194560" cy="2194560"/>
          </a:xfrm>
          <a:prstGeom prst="ellipse">
            <a:avLst/>
          </a:prstGeom>
          <a:ln w="6985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-1920240"/>
            <a:ext cx="3474720" cy="3474720"/>
          </a:xfrm>
          <a:prstGeom prst="ellipse">
            <a:avLst/>
          </a:prstGeom>
          <a:ln w="6985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560320" y="-2560320"/>
            <a:ext cx="4754880" cy="4754880"/>
          </a:xfrm>
          <a:prstGeom prst="ellipse">
            <a:avLst/>
          </a:prstGeom>
          <a:ln w="6985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-3200400"/>
            <a:ext cx="6035040" cy="6035040"/>
          </a:xfrm>
          <a:prstGeom prst="ellipse">
            <a:avLst/>
          </a:prstGeom>
          <a:ln w="6985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spc="200" kern="0" dirty="0">
                <a:solidFill>
                  <a:srgbClr val="3B82F6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附录 · APPENDIX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82296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66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4000" b="1" dirty="0">
                <a:solidFill>
                  <a:srgbClr val="FFFFFF"/>
                </a:solidFill>
                <a:latin typeface="Inter" pitchFamily="34" charset="0"/>
                <a:ea typeface="Noto Sans CJK SC" pitchFamily="34" charset="-122"/>
                <a:cs typeface="Inter" pitchFamily="34" charset="-120"/>
              </a:rPr>
              <a:t>补充材料 · Supporting detail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>
                <a:solidFill>
                  <a:srgbClr val="A8ADB3"/>
                </a:solidFill>
                <a:latin typeface="Source Sans Pro" pitchFamily="34" charset="0"/>
                <a:ea typeface="Noto Sans CJK SC" pitchFamily="34" charset="-122"/>
                <a:cs typeface="Source Sans Pro" pitchFamily="34" charset="-120"/>
              </a:rPr>
              <a:t>附录分隔页 — 图表、表格与备注随之展开 / Appendix divider sample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NMU Blueprint Ink — Layout Catalog</dc:title>
  <dc:subject>Brand Scheme A template layouts</dc:subject>
  <dc:creator>NEW MATERIALS UNION</dc:creator>
  <cp:lastModifiedBy>NEW MATERIALS UNION</cp:lastModifiedBy>
  <cp:revision>1</cp:revision>
  <dcterms:created xsi:type="dcterms:W3CDTF">2026-10-11T06:13:42Z</dcterms:created>
  <dcterms:modified xsi:type="dcterms:W3CDTF">2026-10-11T06:13:42Z</dcterms:modified>
</cp:coreProperties>
</file>